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2" r:id="rId1"/>
  </p:sldMasterIdLst>
  <p:notesMasterIdLst>
    <p:notesMasterId r:id="rId24"/>
  </p:notesMasterIdLst>
  <p:sldIdLst>
    <p:sldId id="256" r:id="rId2"/>
    <p:sldId id="568" r:id="rId3"/>
    <p:sldId id="594" r:id="rId4"/>
    <p:sldId id="602" r:id="rId5"/>
    <p:sldId id="619" r:id="rId6"/>
    <p:sldId id="618" r:id="rId7"/>
    <p:sldId id="603" r:id="rId8"/>
    <p:sldId id="604" r:id="rId9"/>
    <p:sldId id="620" r:id="rId10"/>
    <p:sldId id="605" r:id="rId11"/>
    <p:sldId id="606" r:id="rId12"/>
    <p:sldId id="607" r:id="rId13"/>
    <p:sldId id="601" r:id="rId14"/>
    <p:sldId id="589" r:id="rId15"/>
    <p:sldId id="608" r:id="rId16"/>
    <p:sldId id="609" r:id="rId17"/>
    <p:sldId id="621" r:id="rId18"/>
    <p:sldId id="575" r:id="rId19"/>
    <p:sldId id="577" r:id="rId20"/>
    <p:sldId id="578" r:id="rId21"/>
    <p:sldId id="579" r:id="rId22"/>
    <p:sldId id="576" r:id="rId23"/>
  </p:sldIdLst>
  <p:sldSz cx="9144000" cy="6858000" type="screen4x3"/>
  <p:notesSz cx="6742113" cy="988218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вгений Башков" initials="ЕБ" lastIdx="1" clrIdx="0">
    <p:extLst>
      <p:ext uri="{19B8F6BF-5375-455C-9EA6-DF929625EA0E}">
        <p15:presenceInfo xmlns:p15="http://schemas.microsoft.com/office/powerpoint/2012/main" userId="a4e829795854d8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3" autoAdjust="0"/>
    <p:restoredTop sz="97328" autoAdjust="0"/>
  </p:normalViewPr>
  <p:slideViewPr>
    <p:cSldViewPr>
      <p:cViewPr varScale="1">
        <p:scale>
          <a:sx n="162" d="100"/>
          <a:sy n="162" d="100"/>
        </p:scale>
        <p:origin x="2188" y="1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436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>
            <a:extLst>
              <a:ext uri="{FF2B5EF4-FFF2-40B4-BE49-F238E27FC236}">
                <a16:creationId xmlns:a16="http://schemas.microsoft.com/office/drawing/2014/main" id="{EF15A980-6D2F-451E-B7DE-2BF5E50E8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/>
            <a:r>
              <a:rPr lang="en-US" noProof="0"/>
              <a:t> __ ___________ ________ ________ _____</a:t>
            </a:r>
          </a:p>
        </p:txBody>
      </p:sp>
      <p:sp>
        <p:nvSpPr>
          <p:cNvPr id="251" name="PlaceHolder 2">
            <a:extLst>
              <a:ext uri="{FF2B5EF4-FFF2-40B4-BE49-F238E27FC236}">
                <a16:creationId xmlns:a16="http://schemas.microsoft.com/office/drawing/2014/main" id="{25A0E98B-2B5D-4F8F-9409-5E8C751A344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5650" y="5078413"/>
            <a:ext cx="6048375" cy="4811712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uk-UA" altLang="ru-RU"/>
              <a:t>Для правки формата примечаний щёлкните мышью</a:t>
            </a:r>
          </a:p>
        </p:txBody>
      </p:sp>
      <p:sp>
        <p:nvSpPr>
          <p:cNvPr id="252" name="PlaceHolder 3">
            <a:extLst>
              <a:ext uri="{FF2B5EF4-FFF2-40B4-BE49-F238E27FC236}">
                <a16:creationId xmlns:a16="http://schemas.microsoft.com/office/drawing/2014/main" id="{29744CAF-1418-45F9-BE30-AC89D2601ABA}"/>
              </a:ext>
            </a:extLst>
          </p:cNvPr>
          <p:cNvSpPr>
            <a:spLocks noGrp="1"/>
          </p:cNvSpPr>
          <p:nvPr>
            <p:ph type="hdr"/>
          </p:nvPr>
        </p:nvSpPr>
        <p:spPr>
          <a:xfrm>
            <a:off x="0" y="0"/>
            <a:ext cx="3281363" cy="534988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r>
              <a:rPr lang="uk-UA" altLang="ru-RU"/>
              <a:t>&lt;верхний колонтитул&gt;</a:t>
            </a:r>
          </a:p>
        </p:txBody>
      </p:sp>
      <p:sp>
        <p:nvSpPr>
          <p:cNvPr id="253" name="PlaceHolder 4">
            <a:extLst>
              <a:ext uri="{FF2B5EF4-FFF2-40B4-BE49-F238E27FC236}">
                <a16:creationId xmlns:a16="http://schemas.microsoft.com/office/drawing/2014/main" id="{F5B259F3-1482-42AE-AC82-4DAFE3EA3FCA}"/>
              </a:ext>
            </a:extLst>
          </p:cNvPr>
          <p:cNvSpPr>
            <a:spLocks noGrp="1"/>
          </p:cNvSpPr>
          <p:nvPr>
            <p:ph type="dt"/>
          </p:nvPr>
        </p:nvSpPr>
        <p:spPr>
          <a:xfrm>
            <a:off x="4278313" y="0"/>
            <a:ext cx="3281362" cy="534988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r>
              <a:rPr lang="uk-UA" altLang="ru-RU"/>
              <a:t>&lt;дата/время&gt;</a:t>
            </a:r>
          </a:p>
        </p:txBody>
      </p:sp>
      <p:sp>
        <p:nvSpPr>
          <p:cNvPr id="254" name="PlaceHolder 5">
            <a:extLst>
              <a:ext uri="{FF2B5EF4-FFF2-40B4-BE49-F238E27FC236}">
                <a16:creationId xmlns:a16="http://schemas.microsoft.com/office/drawing/2014/main" id="{9B6FFEBB-E84D-4211-B2CA-792FFA42A134}"/>
              </a:ext>
            </a:extLst>
          </p:cNvPr>
          <p:cNvSpPr>
            <a:spLocks noGrp="1"/>
          </p:cNvSpPr>
          <p:nvPr>
            <p:ph type="ftr"/>
          </p:nvPr>
        </p:nvSpPr>
        <p:spPr>
          <a:xfrm>
            <a:off x="0" y="10156825"/>
            <a:ext cx="3281363" cy="534988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r>
              <a:rPr lang="uk-UA" altLang="ru-RU"/>
              <a:t>&lt;нижний колонтитул&gt;</a:t>
            </a:r>
          </a:p>
        </p:txBody>
      </p:sp>
      <p:sp>
        <p:nvSpPr>
          <p:cNvPr id="255" name="PlaceHolder 6">
            <a:extLst>
              <a:ext uri="{FF2B5EF4-FFF2-40B4-BE49-F238E27FC236}">
                <a16:creationId xmlns:a16="http://schemas.microsoft.com/office/drawing/2014/main" id="{A0FA6CD0-1EE3-4FE3-93E6-BE82B3DF765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81362" cy="534988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A6DA315C-6A99-4445-B241-5FC8AEE920E2}" type="slidenum">
              <a:rPr lang="uk-UA" altLang="ru-RU"/>
              <a:pPr/>
              <a:t>‹#›</a:t>
            </a:fld>
            <a:endParaRPr lang="uk-UA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Три сдвинутых копии </a:t>
            </a:r>
          </a:p>
          <a:p>
            <a:r>
              <a:rPr lang="ru-RU" dirty="0"/>
              <a:t>Центральная </a:t>
            </a:r>
            <a:r>
              <a:rPr lang="ru-RU" dirty="0" err="1"/>
              <a:t>колрич</a:t>
            </a:r>
            <a:r>
              <a:rPr lang="ru-RU" dirty="0"/>
              <a:t>   - несдвинутый    н = 0</a:t>
            </a:r>
          </a:p>
          <a:p>
            <a:r>
              <a:rPr lang="ru-RU" dirty="0" err="1"/>
              <a:t>Срава</a:t>
            </a:r>
            <a:r>
              <a:rPr lang="ru-RU" dirty="0"/>
              <a:t> сдвинута копия   н = 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Слева сдвинута копия   н = -1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И вправо и в лево   до бесконечности</a:t>
            </a:r>
          </a:p>
          <a:p>
            <a:endParaRPr lang="ru-RU" dirty="0"/>
          </a:p>
          <a:p>
            <a:r>
              <a:rPr lang="ru-RU" dirty="0"/>
              <a:t>Важно  -  в диапазон   попала лишь одна </a:t>
            </a:r>
            <a:r>
              <a:rPr lang="ru-RU" dirty="0" err="1"/>
              <a:t>копися</a:t>
            </a:r>
            <a:r>
              <a:rPr lang="ru-RU" dirty="0"/>
              <a:t> спектра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A6DA315C-6A99-4445-B241-5FC8AEE920E2}" type="slidenum">
              <a:rPr lang="uk-UA" altLang="ru-RU" smtClean="0"/>
              <a:pPr/>
              <a:t>11</a:t>
            </a:fld>
            <a:endParaRPr lang="uk-UA" altLang="ru-RU"/>
          </a:p>
        </p:txBody>
      </p:sp>
    </p:spTree>
    <p:extLst>
      <p:ext uri="{BB962C8B-B14F-4D97-AF65-F5344CB8AC3E}">
        <p14:creationId xmlns:p14="http://schemas.microsoft.com/office/powerpoint/2010/main" val="10797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зсунуті</a:t>
            </a:r>
            <a:r>
              <a:rPr lang="ru-RU" dirty="0"/>
              <a:t> </a:t>
            </a:r>
            <a:r>
              <a:rPr lang="ru-RU" dirty="0" err="1"/>
              <a:t>копії</a:t>
            </a:r>
            <a:r>
              <a:rPr lang="ru-RU" dirty="0"/>
              <a:t> спектра не </a:t>
            </a:r>
            <a:r>
              <a:rPr lang="ru-RU" dirty="0" err="1"/>
              <a:t>перекриваються</a:t>
            </a:r>
            <a:r>
              <a:rPr lang="ru-RU" dirty="0"/>
              <a:t> - </a:t>
            </a:r>
            <a:r>
              <a:rPr lang="ru-RU" dirty="0" err="1"/>
              <a:t>відновлення</a:t>
            </a:r>
            <a:r>
              <a:rPr lang="ru-RU" dirty="0"/>
              <a:t> </a:t>
            </a:r>
            <a:r>
              <a:rPr lang="ru-RU" dirty="0" err="1"/>
              <a:t>можливо</a:t>
            </a:r>
            <a:endParaRPr lang="ru-RU" dirty="0"/>
          </a:p>
          <a:p>
            <a:endParaRPr lang="ru-RU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dirty="0" err="1"/>
              <a:t>зсунуті</a:t>
            </a:r>
            <a:r>
              <a:rPr lang="ru-RU" dirty="0"/>
              <a:t> </a:t>
            </a:r>
            <a:r>
              <a:rPr lang="ru-RU" dirty="0" err="1"/>
              <a:t>копії</a:t>
            </a:r>
            <a:r>
              <a:rPr lang="ru-RU" dirty="0"/>
              <a:t> спектра ПЕРЕКРИВАЮТЬСЯ  - </a:t>
            </a:r>
            <a:r>
              <a:rPr lang="ru-RU" dirty="0" err="1"/>
              <a:t>відновлення</a:t>
            </a:r>
            <a:r>
              <a:rPr lang="ru-RU" dirty="0"/>
              <a:t> НМОЖЛИВОЛ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A6DA315C-6A99-4445-B241-5FC8AEE920E2}" type="slidenum">
              <a:rPr lang="uk-UA" altLang="ru-RU" smtClean="0"/>
              <a:pPr/>
              <a:t>12</a:t>
            </a:fld>
            <a:endParaRPr lang="uk-UA" altLang="ru-RU"/>
          </a:p>
        </p:txBody>
      </p:sp>
    </p:spTree>
    <p:extLst>
      <p:ext uri="{BB962C8B-B14F-4D97-AF65-F5344CB8AC3E}">
        <p14:creationId xmlns:p14="http://schemas.microsoft.com/office/powerpoint/2010/main" val="2798177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F2CEE7-5F6A-4F72-A587-4D3E7C051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0CABBF-DDBF-4F19-8EBF-17D5E3F0A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ED0DEE-D46D-4832-9471-74177055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F2C9D-7465-4D21-A71D-FE861429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855563-75B2-448D-8BEE-A0AFA663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90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A2EAB-16FD-4D01-A236-9C14E5CA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BA81AF-682B-4333-8CB4-44924FB3A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FB1B14-2DDB-4A7A-961C-D070B071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9A1E73-C758-4FF9-B8D6-3D6AC2DD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0D3E33-159A-4904-B189-4AFF9FB9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402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DF47B-70D5-4FD1-A0A3-43B2BC05B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76411E-A7FB-47B4-A7A3-F3F27C24D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A59459-317E-4405-8301-3199085A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72DD46-D1E3-4B63-9F03-E082C8B4C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1E4D7F-F47B-4055-B3C7-7F47FF589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43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B51AD-196A-40D7-AFCD-7534E715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9D9F1-17F8-4C31-947A-400ECEEE8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C619E1-AFB3-48E3-9D3F-F9674AB4A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9E38CE-0A74-42C2-9BB9-5505D357D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73DD3D-6671-4E08-A1E1-DD79325D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CB429F-BFA5-4D32-B4BD-7D98BEF0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6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89DE9-16CA-45B7-B78B-875177566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B7571F-BE31-4AF8-ABC8-6DEC4D9C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01A449-5125-410E-A811-D68C0F630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ABABEC-F980-4330-9E66-8D684EA19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D14F22-A98B-4238-AD80-29AEA0D8C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B115C4-FAEC-4400-944E-9AAB22400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845259-A870-465B-A146-3C8B5C5B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ED4D466-7EC4-41A6-A963-B9CF8F7C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82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C3DB8-EA3D-46F6-9077-F3FF0533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94C2883-6281-47C9-9F6E-BDB74549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ABA826-B6F0-428F-9569-3C38750C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4E489D-209E-45AC-91C5-2141B301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3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C6FE641-EFC4-44A2-BE3F-DA42ABE1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6040F7-51F9-4680-8114-12767EB6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CB78E3-427D-40A7-AA49-19451CA3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127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C5EF8-B516-44FD-9471-2A332560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A94AA-8951-4645-A40D-B6B998274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565039-F9BE-473D-9F55-1650DAE1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74634-915E-4B9B-86BE-093D7E051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0FD6F3-E5B5-4303-A62A-66368822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286C5A-440E-4D76-A583-BF8F373D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64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F0933-1141-49DC-85C8-3FCDC2044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CC67CE-5F51-44C5-93C2-B036B1926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F73CDC-1B2C-4F60-AE0C-C39A27515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F820D1-7574-428C-B81F-01C2D654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EDA990-4549-43ED-B6ED-86D89F09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643FBB-FCB9-4B32-8215-5138463F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89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77E6C-2D43-438D-87C2-2E663DC4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6464B4-CD2D-46A7-A77A-4762A9E52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5C2B1C-1554-4C49-B485-81612D11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50CF79-3FC3-4912-B71C-493C3AFDD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971A7-6FF6-4E55-847E-92C83CC1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4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3EEAD2-999F-4405-A4F6-1B8046AF8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49B4FE-5909-4FB3-B23D-4805F4A3C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0C5B5-BDC6-4241-BC03-2387EA09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53553-2306-407B-B348-44133FF4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017079-3FD4-4637-B42B-315F544F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13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anchor="ctr"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875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F76CE-FCE4-4D27-BDAB-3B125CA9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9BA53-C0CC-4613-B092-00B9845F1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5778F9-40EF-4344-A573-415F7BB43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6AB072E-9792-4416-9120-C879B2C286DB}" type="datetime1">
              <a:rPr lang="uk-UA" smtClean="0"/>
              <a:pPr>
                <a:defRPr/>
              </a:pPr>
              <a:t>06.02.2022</a:t>
            </a:fld>
            <a:endParaRPr lang="uk-UA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C4D69F-D613-4BAB-9CAC-00DB7C85E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A641BA-FEDB-4FB3-B638-1A5ACAE3A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98F2-EF7E-4828-9CA0-0F289545C57E}" type="slidenum">
              <a:rPr lang="uk-UA" altLang="ru-RU" smtClean="0"/>
              <a:pPr/>
              <a:t>‹#›</a:t>
            </a:fld>
            <a:endParaRPr lang="uk-UA" altLang="ru-RU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24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abshkvprof/2021_Image_Processing_IPZm_20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Z99Q0DQq3Y" TargetMode="External"/><Relationship Id="rId2" Type="http://schemas.openxmlformats.org/officeDocument/2006/relationships/hyperlink" Target="http://aco.ifmo.ru/el_books/image_processing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FKTLW8GAdu4" TargetMode="External"/><Relationship Id="rId4" Type="http://schemas.openxmlformats.org/officeDocument/2006/relationships/hyperlink" Target="https://ela.kpi.ua/handle/123456789/21035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Shape 1">
            <a:extLst>
              <a:ext uri="{FF2B5EF4-FFF2-40B4-BE49-F238E27FC236}">
                <a16:creationId xmlns:a16="http://schemas.microsoft.com/office/drawing/2014/main" id="{411B1C32-5555-47FA-86D3-0CDC33C85D7C}"/>
              </a:ext>
            </a:extLst>
          </p:cNvPr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8D2EC086-1E8F-43D0-84E6-182EDE9603A8}" type="slidenum">
              <a:rPr lang="uk-UA" altLang="ru-RU" sz="1400">
                <a:solidFill>
                  <a:srgbClr val="1C1C1C"/>
                </a:solidFill>
                <a:latin typeface="Tahoma" panose="020B0604030504040204" pitchFamily="34" charset="0"/>
              </a:rPr>
              <a:pPr algn="r"/>
              <a:t>1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ECAAC6-4607-4163-A3C3-97FE178CBE5B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124744"/>
            <a:ext cx="7772400" cy="439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ru-RU" altLang="ru-RU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</a:br>
            <a:r>
              <a:rPr lang="uk-UA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КОМП</a:t>
            </a:r>
            <a:r>
              <a:rPr lang="ru-RU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’</a:t>
            </a:r>
            <a:r>
              <a:rPr lang="uk-UA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ЮТЕРНИЙ СИНТЕЗ та ОБРОБКА ЗОБРАЖЕНЬ</a:t>
            </a:r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Digital Image Processing - DIP</a:t>
            </a:r>
          </a:p>
          <a:p>
            <a:pPr algn="ctr"/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/>
            <a:endParaRPr lang="en-US" sz="4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2021 / 2022 </a:t>
            </a:r>
            <a:r>
              <a:rPr lang="uk-UA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навчальний рік</a:t>
            </a:r>
            <a:endParaRPr lang="en-US" altLang="ru-RU" sz="40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Shape 2">
            <a:extLst>
              <a:ext uri="{FF2B5EF4-FFF2-40B4-BE49-F238E27FC236}">
                <a16:creationId xmlns:a16="http://schemas.microsoft.com/office/drawing/2014/main" id="{C093A81C-70B7-4553-8861-81DC5B3CD8D2}"/>
              </a:ext>
            </a:extLst>
          </p:cNvPr>
          <p:cNvSpPr txBox="1"/>
          <p:nvPr/>
        </p:nvSpPr>
        <p:spPr>
          <a:xfrm>
            <a:off x="607640" y="836712"/>
            <a:ext cx="7924800" cy="2062103"/>
          </a:xfrm>
          <a:prstGeom prst="rect">
            <a:avLst/>
          </a:prstGeom>
          <a:noFill/>
          <a:ln>
            <a:noFill/>
          </a:ln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marL="514350" indent="-514350">
              <a:buAutoNum type="arabicPeriod"/>
            </a:pPr>
            <a:r>
              <a:rPr lang="uk-UA" altLang="ru-RU" sz="3200" b="1" dirty="0">
                <a:solidFill>
                  <a:srgbClr val="002060"/>
                </a:solidFill>
                <a:latin typeface="Book Antiqua" panose="02040602050305030304" pitchFamily="18" charset="0"/>
              </a:rPr>
              <a:t>Інтеграл Фур’є</a:t>
            </a:r>
          </a:p>
          <a:p>
            <a:pPr marL="514350" indent="-514350">
              <a:buAutoNum type="arabicPeriod"/>
            </a:pPr>
            <a:r>
              <a:rPr lang="uk-UA" altLang="ru-RU" sz="3200" b="1" dirty="0">
                <a:solidFill>
                  <a:srgbClr val="002060"/>
                </a:solidFill>
                <a:latin typeface="Book Antiqua" panose="02040602050305030304" pitchFamily="18" charset="0"/>
              </a:rPr>
              <a:t>Дискретизація сигналів </a:t>
            </a:r>
          </a:p>
          <a:p>
            <a:pPr marL="514350" indent="-514350">
              <a:buAutoNum type="arabicPeriod"/>
            </a:pPr>
            <a:r>
              <a:rPr lang="uk-UA" altLang="ru-RU" sz="3200" b="1" dirty="0">
                <a:solidFill>
                  <a:srgbClr val="002060"/>
                </a:solidFill>
                <a:latin typeface="Book Antiqua" panose="02040602050305030304" pitchFamily="18" charset="0"/>
              </a:rPr>
              <a:t>Теорема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  <a:r>
              <a:rPr lang="uk-UA" altLang="ru-RU" sz="3200" b="1" dirty="0">
                <a:solidFill>
                  <a:srgbClr val="002060"/>
                </a:solidFill>
                <a:latin typeface="Book Antiqua" panose="02040602050305030304" pitchFamily="18" charset="0"/>
              </a:rPr>
              <a:t>Відновлення сигналів.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E4FA-B1F8-49A7-8D13-4600C605DC5F}"/>
              </a:ext>
            </a:extLst>
          </p:cNvPr>
          <p:cNvSpPr txBox="1"/>
          <p:nvPr/>
        </p:nvSpPr>
        <p:spPr>
          <a:xfrm>
            <a:off x="107504" y="76200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ru-RU" sz="3600" b="1" dirty="0">
                <a:solidFill>
                  <a:srgbClr val="002060"/>
                </a:solidFill>
                <a:latin typeface="Book Antiqua" panose="02040602050305030304" pitchFamily="18" charset="0"/>
              </a:rPr>
              <a:t>СИГНАЛИ</a:t>
            </a:r>
            <a:endParaRPr lang="uk-UA" altLang="ru-RU" sz="36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C2F44C9F-0099-4CAA-8740-BDA61EDFF1A5}"/>
              </a:ext>
            </a:extLst>
          </p:cNvPr>
          <p:cNvSpPr txBox="1"/>
          <p:nvPr/>
        </p:nvSpPr>
        <p:spPr>
          <a:xfrm>
            <a:off x="8532440" y="6313439"/>
            <a:ext cx="442392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32F61797-D50F-4FE0-AF7F-39CB46C48131}" type="slidenum">
              <a:rPr lang="uk-UA" altLang="ru-RU" sz="1400" b="1" smtClean="0">
                <a:solidFill>
                  <a:srgbClr val="002060"/>
                </a:solidFill>
                <a:latin typeface="Tahoma" panose="020B0604030504040204" pitchFamily="34" charset="0"/>
              </a:rPr>
              <a:pPr algn="r"/>
              <a:t>2</a:t>
            </a:fld>
            <a:endParaRPr lang="uk-UA" altLang="ru-RU" sz="1400" b="1" dirty="0">
              <a:solidFill>
                <a:srgbClr val="002060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Shape 2">
            <a:extLst>
              <a:ext uri="{FF2B5EF4-FFF2-40B4-BE49-F238E27FC236}">
                <a16:creationId xmlns:a16="http://schemas.microsoft.com/office/drawing/2014/main" id="{ADE2E98D-6E46-4580-A24C-DCE163CEB26A}"/>
              </a:ext>
            </a:extLst>
          </p:cNvPr>
          <p:cNvSpPr txBox="1"/>
          <p:nvPr/>
        </p:nvSpPr>
        <p:spPr>
          <a:xfrm>
            <a:off x="221675" y="5589240"/>
            <a:ext cx="7924800" cy="584775"/>
          </a:xfrm>
          <a:prstGeom prst="rect">
            <a:avLst/>
          </a:prstGeom>
          <a:noFill/>
          <a:ln>
            <a:noFill/>
          </a:ln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r>
              <a:rPr lang="uk-UA" altLang="ru-RU" sz="32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en-US" sz="2000" dirty="0">
                <a:hlinkClick r:id="rId2"/>
              </a:rPr>
              <a:t>https://github.com/eabshkvprof/</a:t>
            </a:r>
            <a:r>
              <a:rPr lang="en-US" sz="2000" dirty="0" err="1">
                <a:hlinkClick r:id="rId2"/>
              </a:rPr>
              <a:t>2022_Image_Processing_IPZm_21</a:t>
            </a:r>
            <a:endParaRPr lang="uk-UA" altLang="ru-RU" sz="32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CD3031D-A81C-433E-97A1-4DB332471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12" y="6308725"/>
            <a:ext cx="25539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2022</a:t>
            </a:r>
            <a:r>
              <a:rPr lang="uk-UA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18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Lec.1</a:t>
            </a:r>
            <a:r>
              <a:rPr lang="en-US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  <a:r>
              <a:rPr lang="uk-UA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2</a:t>
            </a:r>
            <a:r>
              <a:rPr lang="en-US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 </a:t>
            </a:r>
            <a:r>
              <a:rPr lang="uk-UA" altLang="ru-RU" sz="18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ІПЗм</a:t>
            </a:r>
            <a:r>
              <a:rPr lang="uk-UA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- 2</a:t>
            </a:r>
            <a:r>
              <a:rPr lang="en-US" altLang="ru-RU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1</a:t>
            </a:r>
            <a:endParaRPr lang="ru-RU" altLang="ru-RU" sz="18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20250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3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Перетворення Фур’є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2269C9ED-439B-484D-9AE8-5AAF3E4101CD}"/>
              </a:ext>
            </a:extLst>
          </p:cNvPr>
          <p:cNvSpPr/>
          <p:nvPr/>
        </p:nvSpPr>
        <p:spPr>
          <a:xfrm>
            <a:off x="304800" y="702480"/>
            <a:ext cx="8731696" cy="13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!!! 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Неперіодичний сигнал</a:t>
            </a:r>
            <a:endParaRPr lang="en-US" altLang="ru-RU" sz="32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= сигнал з безкінечним періодом.</a:t>
            </a:r>
            <a:endParaRPr lang="en-US" altLang="ru-RU" sz="32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Ряд Фур’є перетворюється в інтеграл Фур'є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/>
              <p:nvPr/>
            </p:nvSpPr>
            <p:spPr>
              <a:xfrm>
                <a:off x="179512" y="1991295"/>
                <a:ext cx="8856984" cy="41945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Пряме перетворення       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endParaRPr lang="uk-UA" altLang="ru-RU" sz="3200" b="1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t-BR" altLang="ru-RU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ru-RU" sz="32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r>
                  <a:rPr lang="uk-UA" altLang="ru-RU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Зворотне перетворення</a:t>
                </a:r>
                <a:r>
                  <a:rPr lang="en-US" altLang="ru-RU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 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endParaRPr lang="uk-UA" altLang="ru-RU" sz="3200" b="1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uk-UA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32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ru-RU" sz="32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pt-BR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</m:d>
                  </m:oMath>
                </a14:m>
                <a:r>
                  <a:rPr lang="en-US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-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комплексна функція – спектр сигналу </a:t>
                </a:r>
                <a14:m>
                  <m:oMath xmlns:m="http://schemas.openxmlformats.org/officeDocument/2006/math"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𝑰</m:t>
                    </m:r>
                    <m:d>
                      <m:dPr>
                        <m:ctrlPr>
                          <a:rPr lang="pt-BR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ru-RU" sz="3200" b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991295"/>
                <a:ext cx="8856984" cy="4194566"/>
              </a:xfrm>
              <a:prstGeom prst="rect">
                <a:avLst/>
              </a:prstGeom>
              <a:blipFill>
                <a:blip r:embed="rId2"/>
                <a:stretch>
                  <a:fillRect l="-1721" t="-40843" b="-543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423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4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/>
              <p:nvPr/>
            </p:nvSpPr>
            <p:spPr>
              <a:xfrm>
                <a:off x="183214" y="1412776"/>
                <a:ext cx="4388786" cy="9116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d>
                        <m:dPr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ru-RU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altLang="ru-RU" sz="32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ru-RU" sz="32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ru-RU" sz="32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ru-RU" sz="32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ru-RU" sz="32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en-US" altLang="ru-RU" sz="32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ru-RU" sz="32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ru-RU" sz="3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ru-RU" sz="3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&gt;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ru-RU" sz="3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ru-RU" sz="3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en-US" altLang="ru-RU" sz="32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14" y="1412776"/>
                <a:ext cx="4388786" cy="911616"/>
              </a:xfrm>
              <a:prstGeom prst="rect">
                <a:avLst/>
              </a:prstGeom>
              <a:blipFill>
                <a:blip r:embed="rId2"/>
                <a:stretch>
                  <a:fillRect l="-30694" t="-453020" r="-26111" b="-608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stomShape 2">
                <a:extLst>
                  <a:ext uri="{FF2B5EF4-FFF2-40B4-BE49-F238E27FC236}">
                    <a16:creationId xmlns:a16="http://schemas.microsoft.com/office/drawing/2014/main" id="{266412EE-C5C0-45BA-82DA-BEDCCCFF6208}"/>
                  </a:ext>
                </a:extLst>
              </p:cNvPr>
              <p:cNvSpPr/>
              <p:nvPr/>
            </p:nvSpPr>
            <p:spPr>
              <a:xfrm>
                <a:off x="304800" y="4514707"/>
                <a:ext cx="7075512" cy="5012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f>
                            <m:fPr>
                              <m:ctrlPr>
                                <a:rPr lang="en-US" altLang="ru-RU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ru-RU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</m:num>
                            <m:den>
                              <m:r>
                                <a:rPr lang="en-US" altLang="ru-RU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  <m:f>
                            <m:fPr>
                              <m:ctrlP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𝝉</m:t>
                              </m:r>
                            </m:num>
                            <m:den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32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</m:t>
                      </m:r>
                      <m:r>
                        <a:rPr lang="en-US" altLang="ru-RU" sz="32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𝝉</m:t>
                      </m:r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ru-R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𝒔𝒊𝒏𝒄</m:t>
                      </m:r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ru-RU" sz="32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𝝎</m:t>
                      </m:r>
                      <m:f>
                        <m:fPr>
                          <m:ctrlP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num>
                        <m:den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ru-RU" sz="3200" b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CustomShape 2">
                <a:extLst>
                  <a:ext uri="{FF2B5EF4-FFF2-40B4-BE49-F238E27FC236}">
                    <a16:creationId xmlns:a16="http://schemas.microsoft.com/office/drawing/2014/main" id="{266412EE-C5C0-45BA-82DA-BEDCCCFF62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514707"/>
                <a:ext cx="7075512" cy="501248"/>
              </a:xfrm>
              <a:prstGeom prst="rect">
                <a:avLst/>
              </a:prstGeom>
              <a:blipFill>
                <a:blip r:embed="rId3"/>
                <a:stretch>
                  <a:fillRect t="-150000" b="-71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stomShape 2">
            <a:extLst>
              <a:ext uri="{FF2B5EF4-FFF2-40B4-BE49-F238E27FC236}">
                <a16:creationId xmlns:a16="http://schemas.microsoft.com/office/drawing/2014/main" id="{980506F2-F85A-4DCB-BCCD-A9E6F45F28B9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Інтеграл Фур’є. Один прямокутний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імпульс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43D3E6-DB9E-498E-964D-C1C549BF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979" y="734664"/>
            <a:ext cx="5793085" cy="3465572"/>
          </a:xfrm>
          <a:prstGeom prst="rect">
            <a:avLst/>
          </a:prstGeom>
        </p:spPr>
      </p:pic>
      <p:sp>
        <p:nvSpPr>
          <p:cNvPr id="14" name="CustomShape 2">
            <a:extLst>
              <a:ext uri="{FF2B5EF4-FFF2-40B4-BE49-F238E27FC236}">
                <a16:creationId xmlns:a16="http://schemas.microsoft.com/office/drawing/2014/main" id="{837BA175-4307-444A-92B8-B9F330FA6A7A}"/>
              </a:ext>
            </a:extLst>
          </p:cNvPr>
          <p:cNvSpPr/>
          <p:nvPr/>
        </p:nvSpPr>
        <p:spPr>
          <a:xfrm>
            <a:off x="228600" y="5272252"/>
            <a:ext cx="8458200" cy="12809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en-US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sinc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(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x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)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=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sin(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x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) / 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x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-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кардинальний синус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	</a:t>
            </a:r>
          </a:p>
          <a:p>
            <a:pPr algn="ctr">
              <a:spcBef>
                <a:spcPts val="1600"/>
              </a:spcBef>
            </a:pP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if (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x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=0) 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sinc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(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 = 1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502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5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10" name="CustomShape 2">
            <a:extLst>
              <a:ext uri="{FF2B5EF4-FFF2-40B4-BE49-F238E27FC236}">
                <a16:creationId xmlns:a16="http://schemas.microsoft.com/office/drawing/2014/main" id="{980506F2-F85A-4DCB-BCCD-A9E6F45F28B9}"/>
              </a:ext>
            </a:extLst>
          </p:cNvPr>
          <p:cNvSpPr/>
          <p:nvPr/>
        </p:nvSpPr>
        <p:spPr>
          <a:xfrm>
            <a:off x="304800" y="119159"/>
            <a:ext cx="8458200" cy="9372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lnSpc>
                <a:spcPts val="3300"/>
              </a:lnSpc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Один прямокутний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імпульс</a:t>
            </a:r>
            <a:r>
              <a:rPr lang="en-US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  <a:endParaRPr lang="uk-UA" altLang="ru-RU" sz="32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algn="ctr">
              <a:lnSpc>
                <a:spcPts val="3300"/>
              </a:lnSpc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Спектральна щільність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stomShape 2">
                <a:extLst>
                  <a:ext uri="{FF2B5EF4-FFF2-40B4-BE49-F238E27FC236}">
                    <a16:creationId xmlns:a16="http://schemas.microsoft.com/office/drawing/2014/main" id="{837BA175-4307-444A-92B8-B9F330FA6A7A}"/>
                  </a:ext>
                </a:extLst>
              </p:cNvPr>
              <p:cNvSpPr/>
              <p:nvPr/>
            </p:nvSpPr>
            <p:spPr>
              <a:xfrm>
                <a:off x="342900" y="4889961"/>
                <a:ext cx="8458200" cy="9116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Швидкість убування бічних пелюсток </a:t>
                </a:r>
                <a14:m>
                  <m:oMath xmlns:m="http://schemas.openxmlformats.org/officeDocument/2006/math">
                    <m:r>
                      <a:rPr lang="en-US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пропорційна </a:t>
                </a:r>
                <a14:m>
                  <m:oMath xmlns:m="http://schemas.openxmlformats.org/officeDocument/2006/math">
                    <m:r>
                      <a:rPr lang="en-US" altLang="ru-RU" sz="3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a:rPr lang="uk-UA" altLang="ru-RU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.</a:t>
                </a:r>
                <a:endParaRPr lang="uk-UA" altLang="ru-RU" sz="3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CustomShape 2">
                <a:extLst>
                  <a:ext uri="{FF2B5EF4-FFF2-40B4-BE49-F238E27FC236}">
                    <a16:creationId xmlns:a16="http://schemas.microsoft.com/office/drawing/2014/main" id="{837BA175-4307-444A-92B8-B9F330FA6A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889961"/>
                <a:ext cx="8458200" cy="911616"/>
              </a:xfrm>
              <a:prstGeom prst="rect">
                <a:avLst/>
              </a:prstGeom>
              <a:blipFill>
                <a:blip r:embed="rId2"/>
                <a:stretch>
                  <a:fillRect l="-1801" t="-18000" b="-20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42ADCEB2-891F-4AB8-AF3A-D6A96FD55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8" y="1268760"/>
            <a:ext cx="4677681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stomShape 2">
                <a:extLst>
                  <a:ext uri="{FF2B5EF4-FFF2-40B4-BE49-F238E27FC236}">
                    <a16:creationId xmlns:a16="http://schemas.microsoft.com/office/drawing/2014/main" id="{CE2CF569-54A4-441B-B343-78A9E62FD0B4}"/>
                  </a:ext>
                </a:extLst>
              </p:cNvPr>
              <p:cNvSpPr/>
              <p:nvPr/>
            </p:nvSpPr>
            <p:spPr>
              <a:xfrm>
                <a:off x="4908416" y="1403478"/>
                <a:ext cx="4121596" cy="29634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Має затухаючий коливальний характер. Нулі </a:t>
                </a:r>
                <a14:m>
                  <m:oMath xmlns:m="http://schemas.openxmlformats.org/officeDocument/2006/math">
                    <m:r>
                      <a:rPr lang="en-US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тобто частоти, відповідні</a:t>
                </a: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r>
                      <a:rPr lang="en-US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</m:t>
                    </m:r>
                    <m:d>
                      <m:dPr>
                        <m:ctrlP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=0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рівні</a:t>
                </a: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r>
                      <a:rPr lang="uk-UA" altLang="ru-RU" sz="32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uk-UA" altLang="ru-RU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ru-RU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f>
                      <m:fPr>
                        <m:type m:val="skw"/>
                        <m:ctrlPr>
                          <a:rPr lang="uk-UA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uk-UA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uk-UA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uk-UA" altLang="ru-RU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</a:t>
                </a:r>
              </a:p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де </a:t>
                </a:r>
                <a14:m>
                  <m:oMath xmlns:m="http://schemas.openxmlformats.org/officeDocument/2006/math">
                    <m:r>
                      <a:rPr lang="en-US" altLang="ru-RU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ru-RU" sz="3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=±1,±2,…</m:t>
                    </m:r>
                  </m:oMath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CustomShape 2">
                <a:extLst>
                  <a:ext uri="{FF2B5EF4-FFF2-40B4-BE49-F238E27FC236}">
                    <a16:creationId xmlns:a16="http://schemas.microsoft.com/office/drawing/2014/main" id="{CE2CF569-54A4-441B-B343-78A9E62FD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416" y="1403478"/>
                <a:ext cx="4121596" cy="2963460"/>
              </a:xfrm>
              <a:prstGeom prst="rect">
                <a:avLst/>
              </a:prstGeom>
              <a:blipFill>
                <a:blip r:embed="rId4"/>
                <a:stretch>
                  <a:fillRect l="-3846" t="-5556" r="-5917" b="-57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820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6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Дельта -  функція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2269C9ED-439B-484D-9AE8-5AAF3E4101CD}"/>
              </a:ext>
            </a:extLst>
          </p:cNvPr>
          <p:cNvSpPr/>
          <p:nvPr/>
        </p:nvSpPr>
        <p:spPr>
          <a:xfrm>
            <a:off x="304800" y="702480"/>
            <a:ext cx="8731696" cy="5012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Дельта- функція Дірака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/>
              <p:nvPr/>
            </p:nvSpPr>
            <p:spPr>
              <a:xfrm>
                <a:off x="179512" y="1234459"/>
                <a:ext cx="8856984" cy="9116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ru-RU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ru-RU" sz="32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altLang="ru-RU" sz="32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0: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≠0</m:t>
                                </m:r>
                                <m:r>
                                  <a:rPr lang="en-US" altLang="ru-RU" sz="32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234459"/>
                <a:ext cx="8856984" cy="911616"/>
              </a:xfrm>
              <a:prstGeom prst="rect">
                <a:avLst/>
              </a:prstGeom>
              <a:blipFill>
                <a:blip r:embed="rId2"/>
                <a:stretch>
                  <a:fillRect t="-286577" b="-4127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DAF0C2-1863-4ACE-88A8-56DC6CCB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195" y="2242223"/>
            <a:ext cx="4380905" cy="2674161"/>
          </a:xfrm>
          <a:prstGeom prst="rect">
            <a:avLst/>
          </a:prstGeom>
        </p:spPr>
      </p:pic>
      <p:sp>
        <p:nvSpPr>
          <p:cNvPr id="9" name="CustomShape 2">
            <a:extLst>
              <a:ext uri="{FF2B5EF4-FFF2-40B4-BE49-F238E27FC236}">
                <a16:creationId xmlns:a16="http://schemas.microsoft.com/office/drawing/2014/main" id="{266412EE-C5C0-45BA-82DA-BEDCCCFF6208}"/>
              </a:ext>
            </a:extLst>
          </p:cNvPr>
          <p:cNvSpPr/>
          <p:nvPr/>
        </p:nvSpPr>
        <p:spPr>
          <a:xfrm>
            <a:off x="399238" y="5229200"/>
            <a:ext cx="8731696" cy="5012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!! Площа дельта-функції = 1</a:t>
            </a:r>
          </a:p>
        </p:txBody>
      </p:sp>
    </p:spTree>
    <p:extLst>
      <p:ext uri="{BB962C8B-B14F-4D97-AF65-F5344CB8AC3E}">
        <p14:creationId xmlns:p14="http://schemas.microsoft.com/office/powerpoint/2010/main" val="1642268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7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Дельта -  функція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2269C9ED-439B-484D-9AE8-5AAF3E4101CD}"/>
              </a:ext>
            </a:extLst>
          </p:cNvPr>
          <p:cNvSpPr/>
          <p:nvPr/>
        </p:nvSpPr>
        <p:spPr>
          <a:xfrm>
            <a:off x="304800" y="702480"/>
            <a:ext cx="8731696" cy="911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Інтеграл від довільної функції   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I(x)</a:t>
            </a:r>
            <a:r>
              <a:rPr lang="en-US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помноженої  </a:t>
            </a:r>
            <a:r>
              <a:rPr lang="ru-RU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на д</a:t>
            </a:r>
            <a:r>
              <a:rPr lang="uk-UA" altLang="ru-RU" sz="3200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ельта</a:t>
            </a: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- функцію в точці </a:t>
            </a:r>
            <a:r>
              <a:rPr lang="en-US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x</a:t>
            </a:r>
            <a:r>
              <a:rPr lang="uk-UA" altLang="ru-RU" sz="3200" b="1" i="1" baseline="-25000" dirty="0">
                <a:solidFill>
                  <a:srgbClr val="002060"/>
                </a:solidFill>
                <a:latin typeface="Times New Roman" panose="02020603050405020304" pitchFamily="18" charset="0"/>
              </a:rPr>
              <a:t>0</a:t>
            </a:r>
            <a:r>
              <a:rPr lang="en-US" altLang="ru-RU" sz="3200" b="1" i="1" baseline="-25000" dirty="0">
                <a:solidFill>
                  <a:srgbClr val="002060"/>
                </a:solidFill>
                <a:latin typeface="Times New Roman" panose="02020603050405020304" pitchFamily="18" charset="0"/>
              </a:rPr>
              <a:t>  </a:t>
            </a: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/>
              <p:nvPr/>
            </p:nvSpPr>
            <p:spPr>
              <a:xfrm>
                <a:off x="228600" y="1741609"/>
                <a:ext cx="8458200" cy="17323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pt-BR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uk-UA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uk-UA" altLang="ru-RU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ru-RU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uk-UA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pt-BR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uk-UA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uk-UA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altLang="ru-RU" sz="32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uk-UA" altLang="ru-R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ru-RU" sz="3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ru-RU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ru-RU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ru-RU" sz="32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ru-RU" sz="3200" b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0DDD8AB3-E282-4BDF-A0E2-B6DDA781D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41609"/>
                <a:ext cx="8458200" cy="1732354"/>
              </a:xfrm>
              <a:prstGeom prst="rect">
                <a:avLst/>
              </a:prstGeom>
              <a:blipFill>
                <a:blip r:embed="rId2"/>
                <a:stretch>
                  <a:fillRect l="-17736" t="-122183" b="-1330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FE2C69-F10E-4CDC-BC1D-C8E8E5750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30" y="3257751"/>
            <a:ext cx="4191000" cy="3019425"/>
          </a:xfrm>
          <a:prstGeom prst="rect">
            <a:avLst/>
          </a:prstGeom>
        </p:spPr>
      </p:pic>
      <p:sp>
        <p:nvSpPr>
          <p:cNvPr id="10" name="CustomShape 2">
            <a:extLst>
              <a:ext uri="{FF2B5EF4-FFF2-40B4-BE49-F238E27FC236}">
                <a16:creationId xmlns:a16="http://schemas.microsoft.com/office/drawing/2014/main" id="{DBDCA21E-923D-4E33-ACE1-FDAB017877CC}"/>
              </a:ext>
            </a:extLst>
          </p:cNvPr>
          <p:cNvSpPr/>
          <p:nvPr/>
        </p:nvSpPr>
        <p:spPr>
          <a:xfrm>
            <a:off x="4779898" y="4650183"/>
            <a:ext cx="4344278" cy="13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Дискретизація – множення  сигналу на дельта-функцію</a:t>
            </a: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81262899-47C8-404F-ADC4-8D15BE7DAA22}"/>
              </a:ext>
            </a:extLst>
          </p:cNvPr>
          <p:cNvSpPr/>
          <p:nvPr/>
        </p:nvSpPr>
        <p:spPr>
          <a:xfrm>
            <a:off x="4692218" y="3451309"/>
            <a:ext cx="4344278" cy="911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Фільтруюча властивість Дельта-функції</a:t>
            </a:r>
          </a:p>
        </p:txBody>
      </p:sp>
    </p:spTree>
    <p:extLst>
      <p:ext uri="{BB962C8B-B14F-4D97-AF65-F5344CB8AC3E}">
        <p14:creationId xmlns:p14="http://schemas.microsoft.com/office/powerpoint/2010/main" val="219072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8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Спектр </a:t>
            </a:r>
            <a:r>
              <a:rPr lang="uk-UA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дискретизованого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сигналу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2269C9ED-439B-484D-9AE8-5AAF3E4101CD}"/>
              </a:ext>
            </a:extLst>
          </p:cNvPr>
          <p:cNvSpPr/>
          <p:nvPr/>
        </p:nvSpPr>
        <p:spPr>
          <a:xfrm>
            <a:off x="304800" y="702480"/>
            <a:ext cx="8731696" cy="5012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>
              <a:lnSpc>
                <a:spcPts val="3200"/>
              </a:lnSpc>
            </a:pPr>
            <a:r>
              <a:rPr lang="ru-RU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Сигнал</a:t>
            </a: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I(x)</a:t>
            </a:r>
            <a:r>
              <a:rPr lang="en-US" altLang="ru-RU" sz="3200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altLang="ru-RU" sz="3200" dirty="0">
                <a:solidFill>
                  <a:srgbClr val="00206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uk-UA" altLang="ru-RU" sz="3200" dirty="0">
                <a:solidFill>
                  <a:srgbClr val="00206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uk-UA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I</a:t>
            </a:r>
            <a:r>
              <a:rPr lang="en-US" altLang="ru-RU" sz="3200" b="1" i="1" baseline="-25000" dirty="0">
                <a:solidFill>
                  <a:srgbClr val="002060"/>
                </a:solidFill>
                <a:latin typeface="Times New Roman" panose="02020603050405020304" pitchFamily="18" charset="0"/>
              </a:rPr>
              <a:t>s</a:t>
            </a:r>
            <a:r>
              <a:rPr lang="uk-UA" altLang="ru-RU" sz="3200" b="1" i="1" dirty="0">
                <a:solidFill>
                  <a:srgbClr val="002060"/>
                </a:solidFill>
                <a:latin typeface="Times New Roman" panose="02020603050405020304" pitchFamily="18" charset="0"/>
              </a:rPr>
              <a:t>(x)  !!! дискретизація</a:t>
            </a:r>
            <a:endParaRPr lang="uk-UA" altLang="ru-RU" sz="3200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DC042B-04B0-4579-8DC2-DB810475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77" y="1276301"/>
            <a:ext cx="3220426" cy="19655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/>
              <p:nvPr/>
            </p:nvSpPr>
            <p:spPr>
              <a:xfrm>
                <a:off x="3851920" y="1508071"/>
                <a:ext cx="4492961" cy="17338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uk-UA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ru-RU" sz="3200" b="1" i="1" baseline="-25000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uk-UA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kT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ru-RU" sz="3200" b="1" i="1" dirty="0" smtClean="0">
                        <a:solidFill>
                          <a:srgbClr val="002060"/>
                        </a:solidFill>
                        <a:latin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pt-BR" altLang="ru-RU" sz="3200" b="1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pt-BR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𝒌𝑻</m:t>
                        </m:r>
                      </m:e>
                    </m:d>
                  </m:oMath>
                </a14:m>
                <a:endParaRPr lang="uk-UA" altLang="ru-RU" sz="3200" b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T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-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період дискретизації,</a:t>
                </a:r>
              </a:p>
              <a:p>
                <a:pPr>
                  <a:lnSpc>
                    <a:spcPts val="3200"/>
                  </a:lnSpc>
                </a:pP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1508071"/>
                <a:ext cx="4492961" cy="1733808"/>
              </a:xfrm>
              <a:prstGeom prst="rect">
                <a:avLst/>
              </a:prstGeom>
              <a:blipFill>
                <a:blip r:embed="rId3"/>
                <a:stretch>
                  <a:fillRect l="-3528" r="-284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C15846D0-14AB-4F07-85D6-58EB00FA6A35}"/>
                  </a:ext>
                </a:extLst>
              </p:cNvPr>
              <p:cNvSpPr/>
              <p:nvPr/>
            </p:nvSpPr>
            <p:spPr>
              <a:xfrm>
                <a:off x="328133" y="3436228"/>
                <a:ext cx="8731696" cy="29634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𝒇</m:t>
                        </m:r>
                      </m:e>
                      <m:sub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𝒔</m:t>
                        </m:r>
                      </m:sub>
                    </m:sSub>
                    <m:r>
                      <a:rPr lang="en-US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𝟏</m:t>
                        </m:r>
                      </m:num>
                      <m:den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uk-UA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-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частота дискретизації (</a:t>
                </a:r>
                <a:r>
                  <a:rPr lang="uk-UA" altLang="ru-RU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Гц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𝝎</m:t>
                        </m:r>
                      </m:e>
                      <m:sub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𝒔</m:t>
                        </m:r>
                      </m:sub>
                    </m:sSub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uk-UA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  <m:r>
                          <a:rPr lang="uk-UA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𝝅</m:t>
                        </m:r>
                      </m:num>
                      <m:den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den>
                    </m:f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- кругова частота дискретизації (рад/с)</a:t>
                </a: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uk-UA" altLang="ru-RU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3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𝒇</m:t>
                            </m:r>
                          </m:e>
                        </m:acc>
                      </m:e>
                      <m:sub/>
                    </m:sSub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</m:oMath>
                </a14:m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ru-RU" sz="32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ru-RU" sz="32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ru-RU" sz="3200" b="1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-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нормована частота дискретизації (абсолютна частота віднесена до частоти дискретизації, </a:t>
                </a:r>
                <a:r>
                  <a:rPr lang="uk-UA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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рад/відлік)</a:t>
                </a: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uk-UA" altLang="ru-RU" sz="32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32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𝝎</m:t>
                            </m:r>
                          </m:e>
                        </m:acc>
                      </m:e>
                      <m:sub/>
                    </m:sSub>
                    <m:r>
                      <a:rPr lang="en-US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:</m:t>
                    </m:r>
                  </m:oMath>
                </a14:m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altLang="ru-RU" sz="32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-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нормована кругова частота дискретизації – (рад/відлік)</a:t>
                </a:r>
              </a:p>
            </p:txBody>
          </p:sp>
        </mc:Choice>
        <mc:Fallback xmlns="">
          <p:sp>
            <p:nvSpPr>
              <p:cNvPr id="8" name="CustomShape 2">
                <a:extLst>
                  <a:ext uri="{FF2B5EF4-FFF2-40B4-BE49-F238E27FC236}">
                    <a16:creationId xmlns:a16="http://schemas.microsoft.com/office/drawing/2014/main" id="{C15846D0-14AB-4F07-85D6-58EB00FA6A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33" y="3436228"/>
                <a:ext cx="8731696" cy="2963460"/>
              </a:xfrm>
              <a:prstGeom prst="rect">
                <a:avLst/>
              </a:prstGeom>
              <a:blipFill>
                <a:blip r:embed="rId4"/>
                <a:stretch>
                  <a:fillRect l="-1816" t="-5556" r="-1676" b="-57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69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9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Спектр </a:t>
            </a:r>
            <a:r>
              <a:rPr lang="uk-UA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дискретизованого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сигналу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stomShape 2">
                <a:extLst>
                  <a:ext uri="{FF2B5EF4-FFF2-40B4-BE49-F238E27FC236}">
                    <a16:creationId xmlns:a16="http://schemas.microsoft.com/office/drawing/2014/main" id="{2269C9ED-439B-484D-9AE8-5AAF3E4101CD}"/>
                  </a:ext>
                </a:extLst>
              </p:cNvPr>
              <p:cNvSpPr/>
              <p:nvPr/>
            </p:nvSpPr>
            <p:spPr>
              <a:xfrm>
                <a:off x="304800" y="702480"/>
                <a:ext cx="8731696" cy="91161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ru-RU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Сигнал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ru-RU" sz="3200" b="1" i="1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(x)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</a:t>
                </a:r>
                <a:r>
                  <a:rPr lang="ru-RU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його спектр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r>
                      <a:rPr lang="pt-BR" altLang="ru-RU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ts val="3200"/>
                  </a:lnSpc>
                </a:pPr>
                <a:r>
                  <a:rPr lang="uk-UA" altLang="ru-RU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Дискретизваний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сигнал 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ru-RU" sz="3200" b="1" i="1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(x)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</a:t>
                </a:r>
                <a:r>
                  <a:rPr lang="ru-RU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??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спектр</a:t>
                </a: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stomShape 2">
                <a:extLst>
                  <a:ext uri="{FF2B5EF4-FFF2-40B4-BE49-F238E27FC236}">
                    <a16:creationId xmlns:a16="http://schemas.microsoft.com/office/drawing/2014/main" id="{2269C9ED-439B-484D-9AE8-5AAF3E4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702480"/>
                <a:ext cx="8731696" cy="911616"/>
              </a:xfrm>
              <a:prstGeom prst="rect">
                <a:avLst/>
              </a:prstGeom>
              <a:blipFill>
                <a:blip r:embed="rId2"/>
                <a:stretch>
                  <a:fillRect l="-1816" t="-18000" b="-20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DC042B-04B0-4579-8DC2-DB8104751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53" y="1614096"/>
            <a:ext cx="3917390" cy="23909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/>
              <p:nvPr/>
            </p:nvSpPr>
            <p:spPr>
              <a:xfrm>
                <a:off x="1619672" y="4781974"/>
                <a:ext cx="5539658" cy="9130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</m:d>
                      <m:r>
                        <a:rPr lang="pt-BR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pt-BR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ru-RU" sz="32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altLang="ru-RU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ru-RU" sz="32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sz="32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altLang="ru-RU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uk-UA" altLang="ru-RU" sz="3200" b="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781974"/>
                <a:ext cx="5539658" cy="913070"/>
              </a:xfrm>
              <a:prstGeom prst="rect">
                <a:avLst/>
              </a:prstGeom>
              <a:blipFill>
                <a:blip r:embed="rId4"/>
                <a:stretch>
                  <a:fillRect t="-251333" r="-3414" b="-246667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stomShape 2">
            <a:extLst>
              <a:ext uri="{FF2B5EF4-FFF2-40B4-BE49-F238E27FC236}">
                <a16:creationId xmlns:a16="http://schemas.microsoft.com/office/drawing/2014/main" id="{C15846D0-14AB-4F07-85D6-58EB00FA6A35}"/>
              </a:ext>
            </a:extLst>
          </p:cNvPr>
          <p:cNvSpPr/>
          <p:nvPr/>
        </p:nvSpPr>
        <p:spPr>
          <a:xfrm>
            <a:off x="312792" y="5904896"/>
            <a:ext cx="8731696" cy="50124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lnSpc>
                <a:spcPts val="3200"/>
              </a:lnSpc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Сума спектрів!</a:t>
            </a:r>
          </a:p>
        </p:txBody>
      </p:sp>
    </p:spTree>
    <p:extLst>
      <p:ext uri="{BB962C8B-B14F-4D97-AF65-F5344CB8AC3E}">
        <p14:creationId xmlns:p14="http://schemas.microsoft.com/office/powerpoint/2010/main" val="4267785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10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Спектр </a:t>
            </a:r>
            <a:r>
              <a:rPr lang="uk-UA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дискретизованого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сигналу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stomShape 2">
                <a:extLst>
                  <a:ext uri="{FF2B5EF4-FFF2-40B4-BE49-F238E27FC236}">
                    <a16:creationId xmlns:a16="http://schemas.microsoft.com/office/drawing/2014/main" id="{2269C9ED-439B-484D-9AE8-5AAF3E4101CD}"/>
                  </a:ext>
                </a:extLst>
              </p:cNvPr>
              <p:cNvSpPr/>
              <p:nvPr/>
            </p:nvSpPr>
            <p:spPr>
              <a:xfrm>
                <a:off x="179512" y="2060848"/>
                <a:ext cx="8821661" cy="457928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5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Спектр </a:t>
                </a:r>
                <a:r>
                  <a:rPr lang="uk-UA" altLang="ru-RU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дискретизованого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сигналу </a:t>
                </a:r>
                <a:r>
                  <a:rPr lang="uk-UA" altLang="ru-RU" sz="3200" b="1" i="1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(x)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отриманого шляхом дискретизації безперервного сигналу </a:t>
                </a:r>
                <a:r>
                  <a:rPr lang="uk-UA" altLang="ru-RU" sz="3200" b="1" i="1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(x)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дорівнює </a:t>
                </a:r>
                <a:r>
                  <a:rPr lang="uk-UA" altLang="ru-RU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нескінченної сумі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по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n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зсунутих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копій спектрів вхідного безперервного сигналу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r>
                      <a:rPr lang="uk-UA" altLang="ru-RU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).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Зсув = номер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n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копії помножений на кругову частоту дискретизації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𝝎</m:t>
                        </m:r>
                      </m:e>
                      <m:sub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𝒔</m:t>
                        </m:r>
                      </m:sub>
                    </m:sSub>
                    <m:r>
                      <a:rPr lang="uk-UA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type m:val="skw"/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𝝅</m:t>
                        </m:r>
                      </m:num>
                      <m:den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𝑻</m:t>
                        </m:r>
                      </m:den>
                    </m:f>
                  </m:oMath>
                </a14:m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5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Тобто </a:t>
                </a:r>
                <a14:m>
                  <m:oMath xmlns:m="http://schemas.openxmlformats.org/officeDocument/2006/math">
                    <m:r>
                      <a:rPr lang="uk-UA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uk-UA" altLang="ru-RU" sz="3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uk-UA" altLang="ru-RU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uk-UA" altLang="ru-RU" sz="3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e>
                    </m:d>
                    <m:r>
                      <a:rPr lang="uk-UA" altLang="ru-RU" sz="32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- періодична функція, що повторюється з періодом </a:t>
                </a:r>
                <a14:m>
                  <m:oMath xmlns:m="http://schemas.openxmlformats.org/officeDocument/2006/math">
                    <m:r>
                      <a:rPr lang="uk-UA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𝟐</m:t>
                    </m:r>
                    <m:r>
                      <a:rPr lang="uk-UA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𝝅</m:t>
                    </m:r>
                    <m:r>
                      <a:rPr lang="uk-UA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радіан на відлік або в абсолютних одиницях рівній частоті дискретизації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𝒇</m:t>
                        </m:r>
                      </m:e>
                      <m:sub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𝒔</m:t>
                        </m:r>
                      </m:sub>
                    </m:sSub>
                    <m:r>
                      <a:rPr lang="uk-UA" altLang="ru-RU" sz="32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.</m:t>
                    </m:r>
                  </m:oMath>
                </a14:m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ustomShape 2">
                <a:extLst>
                  <a:ext uri="{FF2B5EF4-FFF2-40B4-BE49-F238E27FC236}">
                    <a16:creationId xmlns:a16="http://schemas.microsoft.com/office/drawing/2014/main" id="{2269C9ED-439B-484D-9AE8-5AAF3E410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060848"/>
                <a:ext cx="8821661" cy="4579287"/>
              </a:xfrm>
              <a:prstGeom prst="rect">
                <a:avLst/>
              </a:prstGeom>
              <a:blipFill>
                <a:blip r:embed="rId2"/>
                <a:stretch>
                  <a:fillRect l="-1727" t="-2796" r="-1727" b="-3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/>
              <p:nvPr/>
            </p:nvSpPr>
            <p:spPr>
              <a:xfrm>
                <a:off x="1941158" y="1268760"/>
                <a:ext cx="5388335" cy="50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ru-RU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</m:d>
                      <m:r>
                        <a:rPr lang="pt-BR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altLang="ru-RU" sz="32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pt-BR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pt-BR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ru-RU" sz="32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altLang="ru-RU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ru-RU" sz="32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ru-RU" sz="32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altLang="ru-RU" sz="32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uk-UA" altLang="ru-RU" sz="3200" b="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C873DA20-5598-473F-B006-C145703006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158" y="1268760"/>
                <a:ext cx="5388335" cy="502702"/>
              </a:xfrm>
              <a:prstGeom prst="rect">
                <a:avLst/>
              </a:prstGeom>
              <a:blipFill>
                <a:blip r:embed="rId3"/>
                <a:stretch>
                  <a:fillRect t="-454217" r="-4977" b="-5265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58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C6E49A1-4040-49B4-BEA9-A1A47B44840E}"/>
              </a:ext>
            </a:extLst>
          </p:cNvPr>
          <p:cNvCxnSpPr>
            <a:cxnSpLocks/>
          </p:cNvCxnSpPr>
          <p:nvPr/>
        </p:nvCxnSpPr>
        <p:spPr>
          <a:xfrm>
            <a:off x="3499595" y="2977848"/>
            <a:ext cx="3104343" cy="883890"/>
          </a:xfrm>
          <a:prstGeom prst="straightConnector1">
            <a:avLst/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11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Спектр </a:t>
            </a:r>
            <a:r>
              <a:rPr lang="uk-UA" altLang="ru-RU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дискретизованого</a:t>
            </a: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сигналу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9D400-06D5-414A-8130-D928D0D30288}"/>
              </a:ext>
            </a:extLst>
          </p:cNvPr>
          <p:cNvSpPr txBox="1"/>
          <p:nvPr/>
        </p:nvSpPr>
        <p:spPr>
          <a:xfrm>
            <a:off x="7956376" y="562046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ym typeface="Symbol" panose="05050102010706020507" pitchFamily="18" charset="2"/>
              </a:rPr>
              <a:t></a:t>
            </a:r>
            <a:endParaRPr lang="ru-RU" dirty="0"/>
          </a:p>
        </p:txBody>
      </p:sp>
      <p:sp>
        <p:nvSpPr>
          <p:cNvPr id="10" name="Выноска: линия с границей и чертой 9">
            <a:extLst>
              <a:ext uri="{FF2B5EF4-FFF2-40B4-BE49-F238E27FC236}">
                <a16:creationId xmlns:a16="http://schemas.microsoft.com/office/drawing/2014/main" id="{A4C9E8D4-F89C-45D7-AD43-163410799D0A}"/>
              </a:ext>
            </a:extLst>
          </p:cNvPr>
          <p:cNvSpPr/>
          <p:nvPr/>
        </p:nvSpPr>
        <p:spPr>
          <a:xfrm>
            <a:off x="5796136" y="1772816"/>
            <a:ext cx="3266553" cy="833221"/>
          </a:xfrm>
          <a:prstGeom prst="accentBorderCallout1">
            <a:avLst>
              <a:gd name="adj1" fmla="val 97875"/>
              <a:gd name="adj2" fmla="val -2261"/>
              <a:gd name="adj3" fmla="val 194594"/>
              <a:gd name="adj4" fmla="val -16706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Основний діапазон частот системи</a:t>
            </a:r>
            <a:endParaRPr lang="ru-RU" sz="2800" dirty="0">
              <a:solidFill>
                <a:srgbClr val="002060"/>
              </a:solidFill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2D1225BE-48BA-47CE-8080-2A2F442A9FED}"/>
              </a:ext>
            </a:extLst>
          </p:cNvPr>
          <p:cNvCxnSpPr>
            <a:cxnSpLocks/>
          </p:cNvCxnSpPr>
          <p:nvPr/>
        </p:nvCxnSpPr>
        <p:spPr>
          <a:xfrm>
            <a:off x="2699792" y="2977848"/>
            <a:ext cx="1224136" cy="1099224"/>
          </a:xfrm>
          <a:prstGeom prst="straightConnector1">
            <a:avLst/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886F8ACF-48DD-4EC6-92E0-A65687FFD1C8}"/>
              </a:ext>
            </a:extLst>
          </p:cNvPr>
          <p:cNvCxnSpPr>
            <a:cxnSpLocks/>
          </p:cNvCxnSpPr>
          <p:nvPr/>
        </p:nvCxnSpPr>
        <p:spPr>
          <a:xfrm flipH="1">
            <a:off x="2051720" y="3013941"/>
            <a:ext cx="288032" cy="631083"/>
          </a:xfrm>
          <a:prstGeom prst="straightConnector1">
            <a:avLst/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7BB076-0E20-46DD-BF60-3DE86256A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18" y="665101"/>
            <a:ext cx="2657475" cy="26479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C390827-6548-422B-AE86-7AECB3AE1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64333"/>
            <a:ext cx="80772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12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67313DAD-4A7B-4E05-8804-9891578B5FF3}"/>
              </a:ext>
            </a:extLst>
          </p:cNvPr>
          <p:cNvSpPr/>
          <p:nvPr/>
        </p:nvSpPr>
        <p:spPr>
          <a:xfrm>
            <a:off x="304800" y="119159"/>
            <a:ext cx="8458200" cy="583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До вибору шагу дискретизації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9D400-06D5-414A-8130-D928D0D30288}"/>
              </a:ext>
            </a:extLst>
          </p:cNvPr>
          <p:cNvSpPr txBox="1"/>
          <p:nvPr/>
        </p:nvSpPr>
        <p:spPr>
          <a:xfrm>
            <a:off x="7956376" y="562046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ym typeface="Symbol" panose="05050102010706020507" pitchFamily="18" charset="2"/>
              </a:rPr>
              <a:t></a:t>
            </a:r>
            <a:endParaRPr lang="ru-RU" dirty="0"/>
          </a:p>
        </p:txBody>
      </p:sp>
      <p:sp>
        <p:nvSpPr>
          <p:cNvPr id="8" name="Выноска: линия с границей и чертой 7">
            <a:extLst>
              <a:ext uri="{FF2B5EF4-FFF2-40B4-BE49-F238E27FC236}">
                <a16:creationId xmlns:a16="http://schemas.microsoft.com/office/drawing/2014/main" id="{EA13146A-B58F-4C28-89C2-E738324459B6}"/>
              </a:ext>
            </a:extLst>
          </p:cNvPr>
          <p:cNvSpPr/>
          <p:nvPr/>
        </p:nvSpPr>
        <p:spPr>
          <a:xfrm>
            <a:off x="74986" y="702480"/>
            <a:ext cx="2160240" cy="792088"/>
          </a:xfrm>
          <a:prstGeom prst="accentBorderCallout1">
            <a:avLst>
              <a:gd name="adj1" fmla="val 43321"/>
              <a:gd name="adj2" fmla="val 105445"/>
              <a:gd name="adj3" fmla="val 106132"/>
              <a:gd name="adj4" fmla="val 164642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Відтворення можливо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9" name="Выноска: линия с границей и чертой 8">
            <a:extLst>
              <a:ext uri="{FF2B5EF4-FFF2-40B4-BE49-F238E27FC236}">
                <a16:creationId xmlns:a16="http://schemas.microsoft.com/office/drawing/2014/main" id="{66DD6601-DE99-4848-BCF0-2CACB40D741C}"/>
              </a:ext>
            </a:extLst>
          </p:cNvPr>
          <p:cNvSpPr/>
          <p:nvPr/>
        </p:nvSpPr>
        <p:spPr>
          <a:xfrm>
            <a:off x="74986" y="4149080"/>
            <a:ext cx="2160240" cy="792088"/>
          </a:xfrm>
          <a:prstGeom prst="accentBorderCallout1">
            <a:avLst>
              <a:gd name="adj1" fmla="val 43321"/>
              <a:gd name="adj2" fmla="val 105445"/>
              <a:gd name="adj3" fmla="val 185659"/>
              <a:gd name="adj4" fmla="val 160409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Відтворення НЕ можливо</a:t>
            </a:r>
            <a:endParaRPr lang="ru-RU" sz="2800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C2206F-D7D6-42DD-B119-B9C1094D2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667" y="1268760"/>
            <a:ext cx="6493517" cy="51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4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13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438" name="CustomShape 2">
            <a:extLst>
              <a:ext uri="{FF2B5EF4-FFF2-40B4-BE49-F238E27FC236}">
                <a16:creationId xmlns:a16="http://schemas.microsoft.com/office/drawing/2014/main" id="{61C9F537-ABDB-4C1C-9802-CE3E1D3E8585}"/>
              </a:ext>
            </a:extLst>
          </p:cNvPr>
          <p:cNvSpPr/>
          <p:nvPr/>
        </p:nvSpPr>
        <p:spPr>
          <a:xfrm>
            <a:off x="304800" y="228600"/>
            <a:ext cx="8458200" cy="10757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Теорема 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Віттакера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Найквіста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Котельникова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Шеннона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stomShape 2">
                <a:extLst>
                  <a:ext uri="{FF2B5EF4-FFF2-40B4-BE49-F238E27FC236}">
                    <a16:creationId xmlns:a16="http://schemas.microsoft.com/office/drawing/2014/main" id="{B712A2DE-5989-4AF7-901F-E16B305AD788}"/>
                  </a:ext>
                </a:extLst>
              </p:cNvPr>
              <p:cNvSpPr/>
              <p:nvPr/>
            </p:nvSpPr>
            <p:spPr>
              <a:xfrm>
                <a:off x="304800" y="1298088"/>
                <a:ext cx="8731696" cy="54256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Якщо безперервний сигнал 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x(t)</a:t>
                </a:r>
                <a:r>
                  <a:rPr lang="uk-UA" altLang="ru-RU" sz="3200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має спектр, обмежений частотою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то він може бути однозначно і без витрат відтворений за своїми дискретними </a:t>
                </a:r>
                <a:r>
                  <a:rPr lang="uk-UA" altLang="ru-RU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відліками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узятими з частотою </a:t>
                </a:r>
                <a:r>
                  <a:rPr lang="uk-UA" altLang="ru-RU" sz="3200" b="1" i="1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samp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&gt;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2*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 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ru-RU" sz="32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𝒎𝒂𝒙</m:t>
                        </m:r>
                        <m:r>
                          <a:rPr lang="en-US" altLang="ru-RU" sz="32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), 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або за </a:t>
                </a:r>
                <a:r>
                  <a:rPr lang="uk-UA" altLang="ru-RU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вдліками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, узятими з періодом  </a:t>
                </a:r>
                <a:r>
                  <a:rPr lang="uk-UA" altLang="ru-RU" sz="3200" b="1" i="1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T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sampl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&lt;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uk-UA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1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/ (</a:t>
                </a:r>
                <a:r>
                  <a:rPr lang="uk-UA" altLang="ru-RU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2*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 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uk-UA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)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.</a:t>
                </a:r>
                <a:endParaRPr lang="uk-UA" altLang="ru-RU" sz="3200" b="1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b="1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 algn="ctr">
                  <a:lnSpc>
                    <a:spcPts val="3200"/>
                  </a:lnSpc>
                </a:pPr>
                <a:r>
                  <a:rPr lang="en-US" altLang="ru-RU" sz="32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 </a:t>
                </a:r>
                <a:r>
                  <a:rPr lang="uk-UA" altLang="ru-RU" sz="3200" b="1" i="1" baseline="-25000" dirty="0" err="1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en-US" altLang="ru-RU" sz="3200" b="1" i="1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ru-RU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 - </a:t>
                </a:r>
                <a:r>
                  <a:rPr lang="uk-UA" altLang="ru-RU" sz="3200" b="1" dirty="0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частота </a:t>
                </a:r>
                <a:r>
                  <a:rPr lang="uk-UA" altLang="ru-RU" sz="32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</a:rPr>
                  <a:t>Найквіста</a:t>
                </a: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</a:t>
                </a:r>
                <a:endParaRPr lang="uk-UA" altLang="ru-RU" sz="3200" b="1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r>
                  <a:rPr lang="uk-UA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Тобто, для того, щоб відтворити сигнал за його </a:t>
                </a:r>
                <a:r>
                  <a:rPr lang="uk-UA" sz="32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відліками</a:t>
                </a:r>
                <a:r>
                  <a:rPr lang="uk-UA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без втрат, необхідно, щоб частота дискретизації  була хоча б у два рази більша за </a:t>
                </a:r>
                <a:r>
                  <a:rPr lang="en-US" altLang="ru-RU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lang="uk-UA" altLang="ru-RU" sz="3200" b="1" i="1" baseline="-25000" dirty="0" err="1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max</a:t>
                </a:r>
                <a:r>
                  <a:rPr lang="uk-UA" altLang="ru-RU" sz="3200" b="1" i="1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  </a:t>
                </a:r>
                <a:r>
                  <a:rPr lang="uk-UA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первинного безперервного сигналу.</a:t>
                </a: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stomShape 2">
                <a:extLst>
                  <a:ext uri="{FF2B5EF4-FFF2-40B4-BE49-F238E27FC236}">
                    <a16:creationId xmlns:a16="http://schemas.microsoft.com/office/drawing/2014/main" id="{B712A2DE-5989-4AF7-901F-E16B305AD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98088"/>
                <a:ext cx="8731696" cy="5425673"/>
              </a:xfrm>
              <a:prstGeom prst="rect">
                <a:avLst/>
              </a:prstGeom>
              <a:blipFill>
                <a:blip r:embed="rId2"/>
                <a:stretch>
                  <a:fillRect l="-1816" t="-3034" b="-26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421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14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438" name="CustomShape 2">
            <a:extLst>
              <a:ext uri="{FF2B5EF4-FFF2-40B4-BE49-F238E27FC236}">
                <a16:creationId xmlns:a16="http://schemas.microsoft.com/office/drawing/2014/main" id="{61C9F537-ABDB-4C1C-9802-CE3E1D3E8585}"/>
              </a:ext>
            </a:extLst>
          </p:cNvPr>
          <p:cNvSpPr/>
          <p:nvPr/>
        </p:nvSpPr>
        <p:spPr>
          <a:xfrm>
            <a:off x="304800" y="228600"/>
            <a:ext cx="8458200" cy="10757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Теорема 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Віттакера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Найквіста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Котельникова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Шеннона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stomShape 2">
                <a:extLst>
                  <a:ext uri="{FF2B5EF4-FFF2-40B4-BE49-F238E27FC236}">
                    <a16:creationId xmlns:a16="http://schemas.microsoft.com/office/drawing/2014/main" id="{B712A2DE-5989-4AF7-901F-E16B305AD788}"/>
                  </a:ext>
                </a:extLst>
              </p:cNvPr>
              <p:cNvSpPr/>
              <p:nvPr/>
            </p:nvSpPr>
            <p:spPr>
              <a:xfrm>
                <a:off x="321176" y="1412776"/>
                <a:ext cx="8731696" cy="460493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DejaVu Sans" panose="020B0603030804020204" pitchFamily="34" charset="0"/>
                  </a:defRPr>
                </a:lvl9pPr>
              </a:lstStyle>
              <a:p>
                <a:pPr>
                  <a:lnSpc>
                    <a:spcPts val="3200"/>
                  </a:lnSpc>
                </a:pPr>
                <a:r>
                  <a:rPr lang="uk-UA" altLang="ru-RU" sz="3200" dirty="0">
                    <a:solidFill>
                      <a:srgbClr val="002060"/>
                    </a:solidFill>
                    <a:latin typeface="Times New Roman" panose="02020603050405020304" pitchFamily="18" charset="0"/>
                  </a:rPr>
                  <a:t>Відтворення (встановлення) сигналу</a:t>
                </a: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uk-UA" altLang="ru-RU" sz="3200" b="0" i="1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b="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/>
                      </m:sSub>
                      <m:d>
                        <m:dPr>
                          <m:ctrlP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ru-RU" sz="32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ru-RU" sz="32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lang="en-US" altLang="ru-RU" sz="32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ru-RU" sz="32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f>
                            <m:fPr>
                              <m:ctrlP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ru-RU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en-US" altLang="ru-RU" sz="32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ru-RU" sz="32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ru-RU" sz="32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ru-RU" sz="32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ru-RU" sz="32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US" altLang="ru-RU" sz="32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ru-RU" sz="32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/>
                      </m:sSub>
                      <m:d>
                        <m:dPr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ru-RU" sz="32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altLang="ru-RU" sz="32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ru-RU" sz="32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  <m:d>
                            <m:dPr>
                              <m:ctrlP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𝒔𝒊𝒏𝒄</m:t>
                          </m:r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𝝅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d>
                            <m:dPr>
                              <m:ctrlP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ru-RU" sz="32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ru-RU" sz="32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ru-RU" sz="32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ru-RU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  <a:p>
                <a:pPr>
                  <a:lnSpc>
                    <a:spcPts val="3200"/>
                  </a:lnSpc>
                </a:pPr>
                <a:endParaRPr lang="en-US" altLang="ru-RU" sz="3200" dirty="0">
                  <a:solidFill>
                    <a:srgbClr val="00206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ustomShape 2">
                <a:extLst>
                  <a:ext uri="{FF2B5EF4-FFF2-40B4-BE49-F238E27FC236}">
                    <a16:creationId xmlns:a16="http://schemas.microsoft.com/office/drawing/2014/main" id="{B712A2DE-5989-4AF7-901F-E16B305AD7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76" y="1412776"/>
                <a:ext cx="8731696" cy="4604935"/>
              </a:xfrm>
              <a:prstGeom prst="rect">
                <a:avLst/>
              </a:prstGeom>
              <a:blipFill>
                <a:blip r:embed="rId2"/>
                <a:stretch>
                  <a:fillRect l="-1816" t="-16291" b="-394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807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15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438" name="CustomShape 2">
            <a:extLst>
              <a:ext uri="{FF2B5EF4-FFF2-40B4-BE49-F238E27FC236}">
                <a16:creationId xmlns:a16="http://schemas.microsoft.com/office/drawing/2014/main" id="{61C9F537-ABDB-4C1C-9802-CE3E1D3E8585}"/>
              </a:ext>
            </a:extLst>
          </p:cNvPr>
          <p:cNvSpPr/>
          <p:nvPr/>
        </p:nvSpPr>
        <p:spPr>
          <a:xfrm>
            <a:off x="304800" y="228600"/>
            <a:ext cx="8458200" cy="10757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Теорема 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Віттакера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Найквіста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Котельникова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Шеннона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BDE7DB-9F73-4CCC-B016-126AACFB0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6" y="1048698"/>
            <a:ext cx="3400425" cy="261937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A30968-7468-42FB-AB15-7EFFC71F2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572" y="1416684"/>
            <a:ext cx="3648075" cy="22955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A3EED6-EECE-4480-A428-5CC66A81DF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709" y="3668073"/>
            <a:ext cx="4657725" cy="3019425"/>
          </a:xfrm>
          <a:prstGeom prst="rect">
            <a:avLst/>
          </a:prstGeom>
        </p:spPr>
      </p:pic>
      <p:sp>
        <p:nvSpPr>
          <p:cNvPr id="8" name="Выноска: линия с границей и чертой 7">
            <a:extLst>
              <a:ext uri="{FF2B5EF4-FFF2-40B4-BE49-F238E27FC236}">
                <a16:creationId xmlns:a16="http://schemas.microsoft.com/office/drawing/2014/main" id="{4C15BCAC-826B-4FCE-B4D7-E7D3E22E893D}"/>
              </a:ext>
            </a:extLst>
          </p:cNvPr>
          <p:cNvSpPr/>
          <p:nvPr/>
        </p:nvSpPr>
        <p:spPr>
          <a:xfrm>
            <a:off x="5871171" y="4077072"/>
            <a:ext cx="2160240" cy="457199"/>
          </a:xfrm>
          <a:prstGeom prst="accentBorderCallout1">
            <a:avLst>
              <a:gd name="adj1" fmla="val 44604"/>
              <a:gd name="adj2" fmla="val -4139"/>
              <a:gd name="adj3" fmla="val 50977"/>
              <a:gd name="adj4" fmla="val -30541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Ефект </a:t>
            </a:r>
            <a:r>
              <a:rPr lang="uk-UA" sz="2800" dirty="0" err="1">
                <a:solidFill>
                  <a:srgbClr val="002060"/>
                </a:solidFill>
              </a:rPr>
              <a:t>Гібса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9" name="Выноска: линия с границей и чертой 8">
            <a:extLst>
              <a:ext uri="{FF2B5EF4-FFF2-40B4-BE49-F238E27FC236}">
                <a16:creationId xmlns:a16="http://schemas.microsoft.com/office/drawing/2014/main" id="{BC9EFC65-9433-4975-8153-5D441C790288}"/>
              </a:ext>
            </a:extLst>
          </p:cNvPr>
          <p:cNvSpPr/>
          <p:nvPr/>
        </p:nvSpPr>
        <p:spPr>
          <a:xfrm>
            <a:off x="179512" y="3861049"/>
            <a:ext cx="2473224" cy="855722"/>
          </a:xfrm>
          <a:prstGeom prst="accentBorderCallout1">
            <a:avLst>
              <a:gd name="adj1" fmla="val 63601"/>
              <a:gd name="adj2" fmla="val 102623"/>
              <a:gd name="adj3" fmla="val 77098"/>
              <a:gd name="adj4" fmla="val 140655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Встановлений сигнал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245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16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438" name="CustomShape 2">
            <a:extLst>
              <a:ext uri="{FF2B5EF4-FFF2-40B4-BE49-F238E27FC236}">
                <a16:creationId xmlns:a16="http://schemas.microsoft.com/office/drawing/2014/main" id="{61C9F537-ABDB-4C1C-9802-CE3E1D3E8585}"/>
              </a:ext>
            </a:extLst>
          </p:cNvPr>
          <p:cNvSpPr/>
          <p:nvPr/>
        </p:nvSpPr>
        <p:spPr>
          <a:xfrm>
            <a:off x="304800" y="228600"/>
            <a:ext cx="8458200" cy="10757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Теорема 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Віттакера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Найквіста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Котельникова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Шеннона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EE49FC-8735-4AFC-961B-F7A5BBB4F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341840"/>
            <a:ext cx="2736304" cy="18980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D469B9-B855-42FD-8E94-ED12662F7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112" y="1311101"/>
            <a:ext cx="2722327" cy="192882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A3C23F-E20A-4B50-8C2D-56DFC8F9E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7" y="3429000"/>
            <a:ext cx="4337284" cy="306689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9A6DFB-4083-4946-870C-02C8A42C2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61" y="3310597"/>
            <a:ext cx="4740739" cy="3342291"/>
          </a:xfrm>
          <a:prstGeom prst="rect">
            <a:avLst/>
          </a:prstGeom>
        </p:spPr>
      </p:pic>
      <p:sp>
        <p:nvSpPr>
          <p:cNvPr id="8" name="Выноска: линия с границей и чертой 7">
            <a:extLst>
              <a:ext uri="{FF2B5EF4-FFF2-40B4-BE49-F238E27FC236}">
                <a16:creationId xmlns:a16="http://schemas.microsoft.com/office/drawing/2014/main" id="{4C15BCAC-826B-4FCE-B4D7-E7D3E22E893D}"/>
              </a:ext>
            </a:extLst>
          </p:cNvPr>
          <p:cNvSpPr/>
          <p:nvPr/>
        </p:nvSpPr>
        <p:spPr>
          <a:xfrm>
            <a:off x="7621737" y="2018575"/>
            <a:ext cx="1342751" cy="889878"/>
          </a:xfrm>
          <a:prstGeom prst="accentBorderCallout1">
            <a:avLst>
              <a:gd name="adj1" fmla="val 44604"/>
              <a:gd name="adj2" fmla="val -4139"/>
              <a:gd name="adj3" fmla="val 185142"/>
              <a:gd name="adj4" fmla="val -52711"/>
            </a:avLst>
          </a:prstGeom>
          <a:noFill/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dirty="0">
                <a:solidFill>
                  <a:srgbClr val="002060"/>
                </a:solidFill>
              </a:rPr>
              <a:t>Ефект </a:t>
            </a:r>
            <a:r>
              <a:rPr lang="uk-UA" sz="2800" dirty="0" err="1">
                <a:solidFill>
                  <a:srgbClr val="002060"/>
                </a:solidFill>
              </a:rPr>
              <a:t>Гібса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70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Shape 1">
            <a:extLst>
              <a:ext uri="{FF2B5EF4-FFF2-40B4-BE49-F238E27FC236}">
                <a16:creationId xmlns:a16="http://schemas.microsoft.com/office/drawing/2014/main" id="{63EA8A02-B17A-44A5-A65C-6923E02657B3}"/>
              </a:ext>
            </a:extLst>
          </p:cNvPr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r"/>
            <a:fld id="{0C2DFDDC-D205-41DD-93E9-3DC1CED3AFCC}" type="slidenum">
              <a:rPr lang="uk-UA" altLang="ru-RU" sz="1400">
                <a:solidFill>
                  <a:srgbClr val="000000"/>
                </a:solidFill>
                <a:latin typeface="Tahoma" panose="020B0604030504040204" pitchFamily="34" charset="0"/>
              </a:rPr>
              <a:pPr algn="r"/>
              <a:t>17</a:t>
            </a:fld>
            <a:endParaRPr lang="uk-UA" altLang="ru-RU" sz="1400">
              <a:latin typeface="Times New Roman" panose="02020603050405020304" pitchFamily="18" charset="0"/>
            </a:endParaRPr>
          </a:p>
        </p:txBody>
      </p:sp>
      <p:sp>
        <p:nvSpPr>
          <p:cNvPr id="438" name="CustomShape 2">
            <a:extLst>
              <a:ext uri="{FF2B5EF4-FFF2-40B4-BE49-F238E27FC236}">
                <a16:creationId xmlns:a16="http://schemas.microsoft.com/office/drawing/2014/main" id="{61C9F537-ABDB-4C1C-9802-CE3E1D3E8585}"/>
              </a:ext>
            </a:extLst>
          </p:cNvPr>
          <p:cNvSpPr/>
          <p:nvPr/>
        </p:nvSpPr>
        <p:spPr>
          <a:xfrm>
            <a:off x="304800" y="228600"/>
            <a:ext cx="8458200" cy="10757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DejaVu Sans" panose="020B0603030804020204" pitchFamily="34" charset="0"/>
              </a:defRPr>
            </a:lvl9pPr>
          </a:lstStyle>
          <a:p>
            <a:pPr algn="ctr">
              <a:spcBef>
                <a:spcPts val="1600"/>
              </a:spcBef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Теорема 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відліків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Віттакера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Найквіста</a:t>
            </a:r>
            <a:r>
              <a:rPr lang="uk-UA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— Котельникова — </a:t>
            </a:r>
            <a:r>
              <a:rPr lang="uk-UA" sz="3200" b="1" dirty="0" err="1">
                <a:solidFill>
                  <a:srgbClr val="002060"/>
                </a:solidFill>
                <a:latin typeface="Times New Roman" panose="02020603050405020304" pitchFamily="18" charset="0"/>
              </a:rPr>
              <a:t>Шеннона</a:t>
            </a:r>
            <a:endParaRPr lang="uk-UA" altLang="ru-RU" sz="3200" dirty="0">
              <a:solidFill>
                <a:srgbClr val="00206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560E39-4C19-423A-82D5-DF5C59F5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44" y="1396028"/>
            <a:ext cx="38100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079EA4-4A7D-4C58-9F18-73FC60ACB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6858" y="1358570"/>
            <a:ext cx="38100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D618B02-6D3A-443B-8D2A-50C5B704D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644" y="4060726"/>
            <a:ext cx="37528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8815BC2-FAC3-4781-8EEE-0E29ED157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08" y="4100186"/>
            <a:ext cx="38100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290BC6EB-9B9B-48C1-8344-0929AADB811A}"/>
              </a:ext>
            </a:extLst>
          </p:cNvPr>
          <p:cNvSpPr/>
          <p:nvPr/>
        </p:nvSpPr>
        <p:spPr>
          <a:xfrm>
            <a:off x="1403648" y="528817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7EF5F4B-FBDF-44A7-AD73-E40F24A627CC}"/>
              </a:ext>
            </a:extLst>
          </p:cNvPr>
          <p:cNvSpPr/>
          <p:nvPr/>
        </p:nvSpPr>
        <p:spPr>
          <a:xfrm>
            <a:off x="3987984" y="531795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0A2FF4D5-3376-4B99-B720-A28DBECF31E7}"/>
              </a:ext>
            </a:extLst>
          </p:cNvPr>
          <p:cNvSpPr/>
          <p:nvPr/>
        </p:nvSpPr>
        <p:spPr>
          <a:xfrm>
            <a:off x="2278400" y="609329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6BBC01D6-B940-428E-9AF8-F602D5D15124}"/>
              </a:ext>
            </a:extLst>
          </p:cNvPr>
          <p:cNvSpPr/>
          <p:nvPr/>
        </p:nvSpPr>
        <p:spPr>
          <a:xfrm>
            <a:off x="3149196" y="610164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175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404813"/>
            <a:ext cx="8686800" cy="486287"/>
          </a:xfrm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buFontTx/>
              <a:buNone/>
              <a:defRPr/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Рекомендована ЛІТЕРАТУРА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17435-4B35-4B62-B0DB-51C17085D347}" type="slidenum">
              <a:rPr lang="en-US" altLang="ru-RU" smtClean="0"/>
              <a:pPr>
                <a:defRPr/>
              </a:pPr>
              <a:t>18</a:t>
            </a:fld>
            <a:endParaRPr lang="en-US" alt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2D3578-5540-41FF-B0DB-3125BDD3DDB2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124744"/>
            <a:ext cx="8686800" cy="419191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Вовк С.М.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Гнатушенко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В.В., Бондаренко М.В. Методи обробки зображень та комп’ютерний зір: навчальний посібник. - Д.: Ліра, 2016 — 148 с.</a:t>
            </a:r>
          </a:p>
          <a:p>
            <a:pPr>
              <a:lnSpc>
                <a:spcPct val="80000"/>
              </a:lnSpc>
              <a:defRPr/>
            </a:pPr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Красильников Н.Н.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Цифровая обработка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и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изображений: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учеб.пособие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.- СПб.: БХВ-Петербург, 2011.- 608 с.: ил.</a:t>
            </a:r>
          </a:p>
          <a:p>
            <a:pPr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Гонсалес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Р.С.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Вудс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Р.Э.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М. : Техносфера, 2005. -1070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Визильтер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Ю.В.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Желтов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С.Ю.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зображений в задачах машинного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зрения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.-М.: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Физматкнига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2010.-672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9861" y="942869"/>
            <a:ext cx="8686800" cy="5786199"/>
          </a:xfrm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Ватолин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Ратушняк А., Смирнов М.,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Юкин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сжатия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архиваторов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сжатие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видео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М.: ДИАЛОГ-МИФИ, 2002. - 384 с.</a:t>
            </a:r>
          </a:p>
          <a:p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Творошенко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І.С.  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Конспект лекцій з дисципліни «Цифрова обробка зображень» /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І.С.Творошенко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І. С.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Творошенко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Харків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нац. ун-т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міськ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госп-ва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О. М. Бекетова. –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Харків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ХНУМГ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ім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О. М. Бекетова, 2017. – 75 с.</a:t>
            </a:r>
          </a:p>
          <a:p>
            <a:pPr lvl="0">
              <a:lnSpc>
                <a:spcPct val="80000"/>
              </a:lnSpc>
              <a:defRPr/>
            </a:pP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компьютерной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обработки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Учебное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пособие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ВУЗов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ред.: </a:t>
            </a: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Сойфер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В.А.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- 2-е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испр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М.: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Физматлит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2003. - 780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Фисенко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В.Т.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Фисенко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Т.Ю.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учеб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пособие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СПб: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СПбГУ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ИТМО, 2008. – 192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17435-4B35-4B62-B0DB-51C17085D347}" type="slidenum">
              <a:rPr lang="en-US" altLang="ru-RU" smtClean="0"/>
              <a:pPr>
                <a:defRPr/>
              </a:pPr>
              <a:t>19</a:t>
            </a:fld>
            <a:endParaRPr lang="en-US" alt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88CCE-83A2-465F-B2B5-DA7BD88CDE79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04813"/>
            <a:ext cx="8686800" cy="48628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Рекомендована ЛІТЕРАТУРА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332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980728"/>
            <a:ext cx="8686800" cy="5408404"/>
          </a:xfrm>
        </p:spPr>
        <p:txBody>
          <a:bodyPr>
            <a:spAutoFit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ru-RU" alt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endParaRPr lang="uk-UA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Грузман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И.С.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Киричук В.С.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зображений в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 системах. –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Изд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-во НГУ, 2002. – 352 с.: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Solomon C., Breckon T.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Willey-Blackwell, 2011 -  344 p.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Павлидис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графики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обработки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Пер. с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англ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- М.: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Радио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связь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1986. – 400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80000"/>
              </a:lnSpc>
              <a:defRPr/>
            </a:pPr>
            <a:r>
              <a:rPr lang="uk-UA" sz="2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Яншин</a:t>
            </a:r>
            <a:r>
              <a:rPr lang="uk-UA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В. В.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Калинин Г. А.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языке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для IBM PC: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программы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— М.: Мир, 1994. — 240 с.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uk-UA" altLang="ru-RU" sz="2400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17435-4B35-4B62-B0DB-51C17085D347}" type="slidenum">
              <a:rPr lang="en-US" altLang="ru-RU" smtClean="0"/>
              <a:pPr>
                <a:defRPr/>
              </a:pPr>
              <a:t>20</a:t>
            </a:fld>
            <a:endParaRPr lang="en-US" alt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88CCE-83A2-465F-B2B5-DA7BD88CDE79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04813"/>
            <a:ext cx="8686800" cy="48628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Додаткова ЛІТЕРАТУРА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77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980728"/>
            <a:ext cx="8686800" cy="4639219"/>
          </a:xfrm>
        </p:spPr>
        <p:txBody>
          <a:bodyPr>
            <a:spAutoFit/>
          </a:bodyPr>
          <a:lstStyle/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ru-RU" altLang="ru-RU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Конспект </a:t>
            </a:r>
            <a:r>
              <a:rPr lang="uk-UA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лекций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uk-UA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http://aco.ifmo.ru/el_books/image_processing/</a:t>
            </a:r>
            <a:endParaRPr lang="uk-UA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обробка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зображень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Електронний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ресурс] :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методичні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рекомендації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виконання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лабораторних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робіт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НТУУ «КПІ» ; уклад.: В. С.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Лазебний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П. В. Попович. –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Електронні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текстові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дані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 файл: 1,41 Мбайт). – </a:t>
            </a:r>
            <a:r>
              <a:rPr lang="ru-RU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Київ</a:t>
            </a:r>
            <a:r>
              <a:rPr lang="ru-RU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НТУУ «КПІ», 2016. – 73 с. – </a:t>
            </a:r>
            <a:r>
              <a:rPr lang="en-US" sz="2400" dirty="0">
                <a:hlinkClick r:id="rId3"/>
              </a:rPr>
              <a:t>https:</a:t>
            </a:r>
            <a:r>
              <a:rPr lang="en-US" dirty="0">
                <a:hlinkClick r:id="rId4"/>
              </a:rPr>
              <a:t>//ela.kpi.ua/handle/123456789/21035</a:t>
            </a:r>
            <a:endParaRPr lang="uk-UA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dirty="0">
                <a:hlinkClick r:id="rId3"/>
              </a:rPr>
              <a:t>https://www.youtube.com/watch?v=CZ99Q0DQq3Y</a:t>
            </a:r>
            <a:endParaRPr lang="uk-UA" sz="2800" dirty="0"/>
          </a:p>
          <a:p>
            <a:pPr lvl="0"/>
            <a:r>
              <a:rPr lang="en-US" sz="2800" dirty="0">
                <a:hlinkClick r:id="rId5"/>
              </a:rPr>
              <a:t>https://www.youtube.com/watch?v=FKTLW8GAdu4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17435-4B35-4B62-B0DB-51C17085D347}" type="slidenum">
              <a:rPr lang="en-US" altLang="ru-RU" smtClean="0"/>
              <a:pPr>
                <a:defRPr/>
              </a:pPr>
              <a:t>21</a:t>
            </a:fld>
            <a:endParaRPr lang="en-US" altLang="ru-R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088CCE-83A2-465F-B2B5-DA7BD88CDE79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04813"/>
            <a:ext cx="8686800" cy="48628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uk-UA" alt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Інформаційні ресурси</a:t>
            </a:r>
            <a:endParaRPr lang="ru-RU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7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23528" y="1772816"/>
            <a:ext cx="8172450" cy="1302921"/>
          </a:xfrm>
        </p:spPr>
        <p:txBody>
          <a:bodyPr>
            <a:spAutoFit/>
          </a:bodyPr>
          <a:lstStyle/>
          <a:p>
            <a:pPr marL="185738" indent="15875" algn="ctr" defTabSz="8428038">
              <a:buFontTx/>
              <a:buNone/>
              <a:tabLst>
                <a:tab pos="8526463" algn="l"/>
              </a:tabLst>
              <a:defRPr/>
            </a:pPr>
            <a:r>
              <a:rPr lang="en-US" altLang="ru-RU" sz="4000" b="1" dirty="0">
                <a:solidFill>
                  <a:srgbClr val="002060"/>
                </a:solidFill>
                <a:latin typeface="Book Antiqua" panose="02040602050305030304" pitchFamily="18" charset="0"/>
              </a:rPr>
              <a:t>The END</a:t>
            </a:r>
          </a:p>
          <a:p>
            <a:pPr marL="185738" indent="15875" algn="ctr" defTabSz="8428038">
              <a:buFontTx/>
              <a:buNone/>
              <a:tabLst>
                <a:tab pos="8526463" algn="l"/>
              </a:tabLst>
              <a:defRPr/>
            </a:pPr>
            <a:r>
              <a:rPr lang="en-US" altLang="ru-RU" sz="40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Lec</a:t>
            </a:r>
            <a:r>
              <a:rPr lang="en-US" altLang="ru-RU" sz="4000" b="1" dirty="0">
                <a:solidFill>
                  <a:srgbClr val="002060"/>
                </a:solidFill>
                <a:latin typeface="Book Antiqua" panose="02040602050305030304" pitchFamily="18" charset="0"/>
              </a:rPr>
              <a:t> </a:t>
            </a:r>
            <a:r>
              <a:rPr lang="uk-UA" altLang="ru-RU" sz="4000" b="1">
                <a:solidFill>
                  <a:srgbClr val="002060"/>
                </a:solidFill>
                <a:latin typeface="Book Antiqua" panose="02040602050305030304" pitchFamily="18" charset="0"/>
              </a:rPr>
              <a:t>1.</a:t>
            </a:r>
            <a:r>
              <a:rPr lang="en-US" altLang="ru-RU" sz="4000" b="1">
                <a:solidFill>
                  <a:srgbClr val="002060"/>
                </a:solidFill>
                <a:latin typeface="Book Antiqua" panose="02040602050305030304" pitchFamily="18" charset="0"/>
              </a:rPr>
              <a:t>2</a:t>
            </a:r>
            <a:endParaRPr lang="ru-RU" altLang="ru-RU" sz="40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017435-4B35-4B62-B0DB-51C17085D347}" type="slidenum">
              <a:rPr lang="en-US" altLang="ru-RU" smtClean="0"/>
              <a:pPr>
                <a:defRPr/>
              </a:pPr>
              <a:t>22</a:t>
            </a:fld>
            <a:endParaRPr lang="en-US" alt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1260</Words>
  <Application>Microsoft Office PowerPoint</Application>
  <PresentationFormat>Экран (4:3)</PresentationFormat>
  <Paragraphs>158</Paragraphs>
  <Slides>22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Arial</vt:lpstr>
      <vt:lpstr>Book Antiqua</vt:lpstr>
      <vt:lpstr>Calibri</vt:lpstr>
      <vt:lpstr>Calibri Light</vt:lpstr>
      <vt:lpstr>Cambria Math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Евгений Башков</dc:creator>
  <cp:lastModifiedBy>Евгений Башков</cp:lastModifiedBy>
  <cp:revision>127</cp:revision>
  <dcterms:created xsi:type="dcterms:W3CDTF">2020-02-03T17:54:52Z</dcterms:created>
  <dcterms:modified xsi:type="dcterms:W3CDTF">2022-02-06T08:35:45Z</dcterms:modified>
</cp:coreProperties>
</file>